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nonymous Pro Bold" charset="1" panose="02060809030202000504"/>
      <p:regular r:id="rId21"/>
    </p:embeddedFont>
    <p:embeddedFont>
      <p:font typeface="Cousine Bold" charset="1" panose="02070709020205020404"/>
      <p:regular r:id="rId22"/>
    </p:embeddedFont>
    <p:embeddedFont>
      <p:font typeface="Cousine" charset="1" panose="02070409020205020404"/>
      <p:regular r:id="rId23"/>
    </p:embeddedFont>
    <p:embeddedFont>
      <p:font typeface="Anonymous Pro" charset="1" panose="020606090302020005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3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660678"/>
            <a:ext cx="17470132" cy="8185857"/>
            <a:chOff x="0" y="0"/>
            <a:chExt cx="4601187" cy="21559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2155946"/>
            </a:xfrm>
            <a:custGeom>
              <a:avLst/>
              <a:gdLst/>
              <a:ahLst/>
              <a:cxnLst/>
              <a:rect r="r" b="b" t="t" l="l"/>
              <a:pathLst>
                <a:path h="2155946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155946"/>
                  </a:lnTo>
                  <a:lnTo>
                    <a:pt x="0" y="215594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20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35508" y="9193555"/>
            <a:ext cx="1271608" cy="652980"/>
            <a:chOff x="0" y="0"/>
            <a:chExt cx="334909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688263" y="4511672"/>
            <a:ext cx="14911475" cy="181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6999" spc="-237">
                <a:solidFill>
                  <a:srgbClr val="0057CC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AASTU CAFETERIA MEAL MANAGEMENT SYSTEM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0222042" y="5675875"/>
            <a:ext cx="765682" cy="1303792"/>
          </a:xfrm>
          <a:custGeom>
            <a:avLst/>
            <a:gdLst/>
            <a:ahLst/>
            <a:cxnLst/>
            <a:rect r="r" b="b" t="t" l="l"/>
            <a:pathLst>
              <a:path h="1303792" w="765682">
                <a:moveTo>
                  <a:pt x="0" y="0"/>
                </a:moveTo>
                <a:lnTo>
                  <a:pt x="765682" y="0"/>
                </a:lnTo>
                <a:lnTo>
                  <a:pt x="765682" y="1303793"/>
                </a:lnTo>
                <a:lnTo>
                  <a:pt x="0" y="13037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Database Systems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68132" y="7411481"/>
            <a:ext cx="5291168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prepared by group 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596585"/>
            <a:ext cx="17470132" cy="8249951"/>
            <a:chOff x="0" y="0"/>
            <a:chExt cx="4601187" cy="21728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2172826"/>
            </a:xfrm>
            <a:custGeom>
              <a:avLst/>
              <a:gdLst/>
              <a:ahLst/>
              <a:cxnLst/>
              <a:rect r="r" b="b" t="t" l="l"/>
              <a:pathLst>
                <a:path h="2172826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172826"/>
                  </a:lnTo>
                  <a:lnTo>
                    <a:pt x="0" y="217282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220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04261" y="2783921"/>
            <a:ext cx="5649086" cy="3009422"/>
          </a:xfrm>
          <a:custGeom>
            <a:avLst/>
            <a:gdLst/>
            <a:ahLst/>
            <a:cxnLst/>
            <a:rect r="r" b="b" t="t" l="l"/>
            <a:pathLst>
              <a:path h="3009422" w="5649086">
                <a:moveTo>
                  <a:pt x="0" y="0"/>
                </a:moveTo>
                <a:lnTo>
                  <a:pt x="5649086" y="0"/>
                </a:lnTo>
                <a:lnTo>
                  <a:pt x="5649086" y="3009422"/>
                </a:lnTo>
                <a:lnTo>
                  <a:pt x="0" y="3009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505775" y="5101523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04261" y="4005600"/>
            <a:ext cx="5534722" cy="775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2"/>
              </a:lnSpc>
            </a:pPr>
            <a:r>
              <a:rPr lang="en-US" b="true" sz="6520" spc="-22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I</a:t>
            </a:r>
            <a:r>
              <a:rPr lang="en-US" b="true" sz="6520" spc="-22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NTRODUCTION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61954" y="2423326"/>
            <a:ext cx="10297346" cy="573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5"/>
              </a:lnSpc>
            </a:pPr>
            <a:r>
              <a:rPr lang="en-US" sz="25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At Addis Ababa Science and Technology University, digital meal access systems such as student ID scanning are used to support cafeteria operations. </a:t>
            </a:r>
          </a:p>
          <a:p>
            <a:pPr algn="just">
              <a:lnSpc>
                <a:spcPts val="3235"/>
              </a:lnSpc>
            </a:pPr>
            <a:r>
              <a:rPr lang="en-US" sz="25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However, managing large amounts of meal-related data, transaction records, meal sessions, an</a:t>
            </a:r>
            <a:r>
              <a:rPr lang="en-US" sz="25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d menu information still requires a well structured database system. </a:t>
            </a:r>
          </a:p>
          <a:p>
            <a:pPr algn="just">
              <a:lnSpc>
                <a:spcPts val="3235"/>
              </a:lnSpc>
            </a:pPr>
            <a:r>
              <a:rPr lang="en-US" sz="25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The proposed Meal Management System is designed to improve the organization, storage, retrieval, and management of cafeteria data using both relational and non-relational databases. </a:t>
            </a:r>
          </a:p>
          <a:p>
            <a:pPr algn="just">
              <a:lnSpc>
                <a:spcPts val="3235"/>
              </a:lnSpc>
            </a:pPr>
            <a:r>
              <a:rPr lang="en-US" sz="25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The system aims to support efficient meal transaction recording, improve data consistency, and assist the university in generating accurate reports and managing cafeteria services more effectively.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Database systems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889550" y="9193555"/>
            <a:ext cx="1271608" cy="652980"/>
            <a:chOff x="0" y="0"/>
            <a:chExt cx="334909" cy="1719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596585"/>
            <a:ext cx="17470132" cy="8249951"/>
            <a:chOff x="0" y="0"/>
            <a:chExt cx="4601187" cy="21728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2172826"/>
            </a:xfrm>
            <a:custGeom>
              <a:avLst/>
              <a:gdLst/>
              <a:ahLst/>
              <a:cxnLst/>
              <a:rect r="r" b="b" t="t" l="l"/>
              <a:pathLst>
                <a:path h="2172826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172826"/>
                  </a:lnTo>
                  <a:lnTo>
                    <a:pt x="0" y="217282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220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04261" y="2783921"/>
            <a:ext cx="5649086" cy="3009422"/>
          </a:xfrm>
          <a:custGeom>
            <a:avLst/>
            <a:gdLst/>
            <a:ahLst/>
            <a:cxnLst/>
            <a:rect r="r" b="b" t="t" l="l"/>
            <a:pathLst>
              <a:path h="3009422" w="5649086">
                <a:moveTo>
                  <a:pt x="0" y="0"/>
                </a:moveTo>
                <a:lnTo>
                  <a:pt x="5649086" y="0"/>
                </a:lnTo>
                <a:lnTo>
                  <a:pt x="5649086" y="3009422"/>
                </a:lnTo>
                <a:lnTo>
                  <a:pt x="0" y="3009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505775" y="5101523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04261" y="4005600"/>
            <a:ext cx="5534722" cy="775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2"/>
              </a:lnSpc>
            </a:pPr>
            <a:r>
              <a:rPr lang="en-US" b="true" sz="6520" spc="-22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OBJE</a:t>
            </a:r>
            <a:r>
              <a:rPr lang="en-US" b="true" sz="6520" spc="-22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CTIVES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61954" y="2423326"/>
            <a:ext cx="10297346" cy="5047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5"/>
              </a:lnSpc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Design and implement a database system for AASTU meal management system that: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Manage student information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Record meal transactions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Manage meal sessions and menus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Reduce redundancy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Improve data consistency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Generate reports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Implement using MySQL and MongoDB</a:t>
            </a:r>
          </a:p>
          <a:p>
            <a:pPr algn="l">
              <a:lnSpc>
                <a:spcPts val="3985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Database Systems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3869972" y="9193555"/>
            <a:ext cx="1271608" cy="652980"/>
            <a:chOff x="0" y="0"/>
            <a:chExt cx="334909" cy="1719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596585"/>
            <a:ext cx="17470132" cy="8249951"/>
            <a:chOff x="0" y="0"/>
            <a:chExt cx="4601187" cy="21728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2172826"/>
            </a:xfrm>
            <a:custGeom>
              <a:avLst/>
              <a:gdLst/>
              <a:ahLst/>
              <a:cxnLst/>
              <a:rect r="r" b="b" t="t" l="l"/>
              <a:pathLst>
                <a:path h="2172826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172826"/>
                  </a:lnTo>
                  <a:lnTo>
                    <a:pt x="0" y="217282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220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64083" y="2712138"/>
            <a:ext cx="5649086" cy="3009422"/>
          </a:xfrm>
          <a:custGeom>
            <a:avLst/>
            <a:gdLst/>
            <a:ahLst/>
            <a:cxnLst/>
            <a:rect r="r" b="b" t="t" l="l"/>
            <a:pathLst>
              <a:path h="3009422" w="5649086">
                <a:moveTo>
                  <a:pt x="0" y="0"/>
                </a:moveTo>
                <a:lnTo>
                  <a:pt x="5649086" y="0"/>
                </a:lnTo>
                <a:lnTo>
                  <a:pt x="5649086" y="3009422"/>
                </a:lnTo>
                <a:lnTo>
                  <a:pt x="0" y="3009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988626" y="5143500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39942" y="3586154"/>
            <a:ext cx="5534722" cy="1470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2"/>
              </a:lnSpc>
            </a:pPr>
            <a:r>
              <a:rPr lang="en-US" b="true" sz="6520" spc="-22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SCOPE OF THE PROJE</a:t>
            </a:r>
            <a:r>
              <a:rPr lang="en-US" b="true" sz="6520" spc="-22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55275" y="2693088"/>
            <a:ext cx="8357492" cy="4037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5"/>
              </a:lnSpc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Included: 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Student information management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Meal session management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Menu m</a:t>
            </a: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anagement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Meal transaction recording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Report generation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MySQL and MongoDB implementation</a:t>
            </a:r>
          </a:p>
          <a:p>
            <a:pPr algn="l">
              <a:lnSpc>
                <a:spcPts val="3985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Database Systems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427580" y="9193555"/>
            <a:ext cx="1271608" cy="652980"/>
            <a:chOff x="0" y="0"/>
            <a:chExt cx="334909" cy="1719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397585"/>
            <a:ext cx="17470132" cy="8249951"/>
            <a:chOff x="0" y="0"/>
            <a:chExt cx="4601187" cy="21728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2172826"/>
            </a:xfrm>
            <a:custGeom>
              <a:avLst/>
              <a:gdLst/>
              <a:ahLst/>
              <a:cxnLst/>
              <a:rect r="r" b="b" t="t" l="l"/>
              <a:pathLst>
                <a:path h="2172826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172826"/>
                  </a:lnTo>
                  <a:lnTo>
                    <a:pt x="0" y="217282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220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999690" y="1744843"/>
            <a:ext cx="5649086" cy="3009422"/>
          </a:xfrm>
          <a:custGeom>
            <a:avLst/>
            <a:gdLst/>
            <a:ahLst/>
            <a:cxnLst/>
            <a:rect r="r" b="b" t="t" l="l"/>
            <a:pathLst>
              <a:path h="3009422" w="5649086">
                <a:moveTo>
                  <a:pt x="0" y="0"/>
                </a:moveTo>
                <a:lnTo>
                  <a:pt x="5649087" y="0"/>
                </a:lnTo>
                <a:lnTo>
                  <a:pt x="5649087" y="3009422"/>
                </a:lnTo>
                <a:lnTo>
                  <a:pt x="0" y="3009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953719" y="4089798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999690" y="2618859"/>
            <a:ext cx="5534722" cy="216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2"/>
              </a:lnSpc>
            </a:pPr>
            <a:r>
              <a:rPr lang="en-US" b="true" sz="6520" spc="-22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METHODOLOGY </a:t>
            </a:r>
          </a:p>
          <a:p>
            <a:pPr algn="ctr">
              <a:lnSpc>
                <a:spcPts val="5542"/>
              </a:lnSpc>
            </a:pPr>
            <a:r>
              <a:rPr lang="en-US" b="true" sz="6520" spc="-22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&amp; TOOLS</a:t>
            </a:r>
          </a:p>
          <a:p>
            <a:pPr algn="ctr">
              <a:lnSpc>
                <a:spcPts val="5542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786508" y="4945684"/>
            <a:ext cx="8357492" cy="5047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5"/>
              </a:lnSpc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Methodology:</a:t>
            </a:r>
          </a:p>
          <a:p>
            <a:pPr algn="l" marL="688406" indent="-344203" lvl="1">
              <a:lnSpc>
                <a:spcPts val="3985"/>
              </a:lnSpc>
              <a:buAutoNum type="arabicPeriod" startAt="1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Requirement analysis</a:t>
            </a:r>
          </a:p>
          <a:p>
            <a:pPr algn="l" marL="688406" indent="-344203" lvl="1">
              <a:lnSpc>
                <a:spcPts val="3985"/>
              </a:lnSpc>
              <a:buAutoNum type="arabicPeriod" startAt="1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Database design</a:t>
            </a:r>
          </a:p>
          <a:p>
            <a:pPr algn="l" marL="688406" indent="-344203" lvl="1">
              <a:lnSpc>
                <a:spcPts val="3985"/>
              </a:lnSpc>
              <a:buAutoNum type="arabicPeriod" startAt="1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ER diagram creation</a:t>
            </a:r>
          </a:p>
          <a:p>
            <a:pPr algn="l" marL="688406" indent="-344203" lvl="1">
              <a:lnSpc>
                <a:spcPts val="3985"/>
              </a:lnSpc>
              <a:buAutoNum type="arabicPeriod" startAt="1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Normalization</a:t>
            </a:r>
          </a:p>
          <a:p>
            <a:pPr algn="l" marL="688406" indent="-344203" lvl="1">
              <a:lnSpc>
                <a:spcPts val="3985"/>
              </a:lnSpc>
              <a:buAutoNum type="arabicPeriod" startAt="1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Implementation</a:t>
            </a:r>
          </a:p>
          <a:p>
            <a:pPr algn="l" marL="688406" indent="-344203" lvl="1">
              <a:lnSpc>
                <a:spcPts val="3985"/>
              </a:lnSpc>
              <a:buAutoNum type="arabicPeriod" startAt="1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Testing</a:t>
            </a:r>
          </a:p>
          <a:p>
            <a:pPr algn="l" marL="688406" indent="-344203" lvl="1">
              <a:lnSpc>
                <a:spcPts val="3985"/>
              </a:lnSpc>
              <a:buAutoNum type="arabicPeriod" startAt="1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Documentation</a:t>
            </a:r>
          </a:p>
          <a:p>
            <a:pPr algn="l">
              <a:lnSpc>
                <a:spcPts val="3985"/>
              </a:lnSpc>
            </a:pPr>
          </a:p>
          <a:p>
            <a:pPr algn="l">
              <a:lnSpc>
                <a:spcPts val="3985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Database Systems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728083" y="9193555"/>
            <a:ext cx="1271608" cy="652980"/>
            <a:chOff x="0" y="0"/>
            <a:chExt cx="334909" cy="1719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044413" y="5078115"/>
            <a:ext cx="8357492" cy="353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5"/>
              </a:lnSpc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T</a:t>
            </a: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ools Used: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MySQL(MySQL Workbench)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MongoDB(MongoDB Compass)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Draw.io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G</a:t>
            </a: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itHub</a:t>
            </a:r>
          </a:p>
          <a:p>
            <a:pPr algn="l">
              <a:lnSpc>
                <a:spcPts val="3985"/>
              </a:lnSpc>
            </a:pPr>
          </a:p>
          <a:p>
            <a:pPr algn="l">
              <a:lnSpc>
                <a:spcPts val="398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596585"/>
            <a:ext cx="17470132" cy="8249951"/>
            <a:chOff x="0" y="0"/>
            <a:chExt cx="4601187" cy="21728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2172826"/>
            </a:xfrm>
            <a:custGeom>
              <a:avLst/>
              <a:gdLst/>
              <a:ahLst/>
              <a:cxnLst/>
              <a:rect r="r" b="b" t="t" l="l"/>
              <a:pathLst>
                <a:path h="2172826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172826"/>
                  </a:lnTo>
                  <a:lnTo>
                    <a:pt x="0" y="217282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220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04261" y="2783921"/>
            <a:ext cx="5649086" cy="3009422"/>
          </a:xfrm>
          <a:custGeom>
            <a:avLst/>
            <a:gdLst/>
            <a:ahLst/>
            <a:cxnLst/>
            <a:rect r="r" b="b" t="t" l="l"/>
            <a:pathLst>
              <a:path h="3009422" w="5649086">
                <a:moveTo>
                  <a:pt x="0" y="0"/>
                </a:moveTo>
                <a:lnTo>
                  <a:pt x="5649086" y="0"/>
                </a:lnTo>
                <a:lnTo>
                  <a:pt x="5649086" y="3009422"/>
                </a:lnTo>
                <a:lnTo>
                  <a:pt x="0" y="3009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505775" y="5101523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04261" y="3672561"/>
            <a:ext cx="5534722" cy="1470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2"/>
              </a:lnSpc>
            </a:pPr>
            <a:r>
              <a:rPr lang="en-US" b="true" sz="6520" spc="-22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SYSTEM REQUIREMEN</a:t>
            </a:r>
            <a:r>
              <a:rPr lang="en-US" b="true" sz="6520" spc="-22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61954" y="2423326"/>
            <a:ext cx="10297346" cy="4037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5"/>
              </a:lnSpc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F</a:t>
            </a: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unctional requirements: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Store student information in the database 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Record meal transactions every time the student uses the cafeteria 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Manage menus and meal sessions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Generate reports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Maintain transaction history</a:t>
            </a:r>
          </a:p>
          <a:p>
            <a:pPr algn="l">
              <a:lnSpc>
                <a:spcPts val="3985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Database Systems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281739" y="9193555"/>
            <a:ext cx="1271608" cy="652980"/>
            <a:chOff x="0" y="0"/>
            <a:chExt cx="334909" cy="1719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596585"/>
            <a:ext cx="17470132" cy="8249951"/>
            <a:chOff x="0" y="0"/>
            <a:chExt cx="4601187" cy="21728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2172826"/>
            </a:xfrm>
            <a:custGeom>
              <a:avLst/>
              <a:gdLst/>
              <a:ahLst/>
              <a:cxnLst/>
              <a:rect r="r" b="b" t="t" l="l"/>
              <a:pathLst>
                <a:path h="2172826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172826"/>
                  </a:lnTo>
                  <a:lnTo>
                    <a:pt x="0" y="217282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220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04261" y="2783921"/>
            <a:ext cx="5649086" cy="3009422"/>
          </a:xfrm>
          <a:custGeom>
            <a:avLst/>
            <a:gdLst/>
            <a:ahLst/>
            <a:cxnLst/>
            <a:rect r="r" b="b" t="t" l="l"/>
            <a:pathLst>
              <a:path h="3009422" w="5649086">
                <a:moveTo>
                  <a:pt x="0" y="0"/>
                </a:moveTo>
                <a:lnTo>
                  <a:pt x="5649086" y="0"/>
                </a:lnTo>
                <a:lnTo>
                  <a:pt x="5649086" y="3009422"/>
                </a:lnTo>
                <a:lnTo>
                  <a:pt x="0" y="3009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505775" y="5101523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04261" y="3672561"/>
            <a:ext cx="5534722" cy="1470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2"/>
              </a:lnSpc>
            </a:pPr>
            <a:r>
              <a:rPr lang="en-US" b="true" sz="6520" spc="-22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SYSTEM REQUIREMEN</a:t>
            </a:r>
            <a:r>
              <a:rPr lang="en-US" b="true" sz="6520" spc="-22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04146" y="2764871"/>
            <a:ext cx="10297346" cy="353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5"/>
              </a:lnSpc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Non f</a:t>
            </a: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unctional requirements: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Data accuracy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Scalability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Reliability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Security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Efficient performance</a:t>
            </a:r>
          </a:p>
          <a:p>
            <a:pPr algn="l">
              <a:lnSpc>
                <a:spcPts val="3985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Database Systems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438983" y="9193555"/>
            <a:ext cx="1271608" cy="652980"/>
            <a:chOff x="0" y="0"/>
            <a:chExt cx="334909" cy="1719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397585"/>
            <a:ext cx="17470132" cy="8249951"/>
            <a:chOff x="0" y="0"/>
            <a:chExt cx="4601187" cy="21728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2172826"/>
            </a:xfrm>
            <a:custGeom>
              <a:avLst/>
              <a:gdLst/>
              <a:ahLst/>
              <a:cxnLst/>
              <a:rect r="r" b="b" t="t" l="l"/>
              <a:pathLst>
                <a:path h="2172826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172826"/>
                  </a:lnTo>
                  <a:lnTo>
                    <a:pt x="0" y="217282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220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224018" y="1642139"/>
            <a:ext cx="4594582" cy="2447659"/>
          </a:xfrm>
          <a:custGeom>
            <a:avLst/>
            <a:gdLst/>
            <a:ahLst/>
            <a:cxnLst/>
            <a:rect r="r" b="b" t="t" l="l"/>
            <a:pathLst>
              <a:path h="2447659" w="4594582">
                <a:moveTo>
                  <a:pt x="0" y="0"/>
                </a:moveTo>
                <a:lnTo>
                  <a:pt x="4594582" y="0"/>
                </a:lnTo>
                <a:lnTo>
                  <a:pt x="4594582" y="2447659"/>
                </a:lnTo>
                <a:lnTo>
                  <a:pt x="0" y="24476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505065" y="3544436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5"/>
                </a:lnTo>
                <a:lnTo>
                  <a:pt x="0" y="10907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224018" y="2235274"/>
            <a:ext cx="4370255" cy="1470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2"/>
              </a:lnSpc>
            </a:pPr>
            <a:r>
              <a:rPr lang="en-US" b="true" sz="6520" spc="-22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DATABASE ENTITIES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6508" y="4606586"/>
            <a:ext cx="8257905" cy="399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0203" indent="-340102" lvl="1">
              <a:lnSpc>
                <a:spcPts val="3938"/>
              </a:lnSpc>
              <a:buAutoNum type="arabicPeriod" startAt="1"/>
            </a:pP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entity name: STUDENT</a:t>
            </a:r>
          </a:p>
          <a:p>
            <a:pPr algn="l">
              <a:lnSpc>
                <a:spcPts val="3938"/>
              </a:lnSpc>
            </a:pP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has the following attributes:</a:t>
            </a:r>
          </a:p>
          <a:p>
            <a:pPr algn="l" marL="680203" indent="-340102" lvl="1">
              <a:lnSpc>
                <a:spcPts val="3938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student_id</a:t>
            </a:r>
          </a:p>
          <a:p>
            <a:pPr algn="l" marL="680203" indent="-340102" lvl="1">
              <a:lnSpc>
                <a:spcPts val="3938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student_name</a:t>
            </a:r>
          </a:p>
          <a:p>
            <a:pPr algn="l" marL="680203" indent="-340102" lvl="1">
              <a:lnSpc>
                <a:spcPts val="3938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department</a:t>
            </a:r>
          </a:p>
          <a:p>
            <a:pPr algn="l" marL="680203" indent="-340102" lvl="1">
              <a:lnSpc>
                <a:spcPts val="3938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year</a:t>
            </a:r>
          </a:p>
          <a:p>
            <a:pPr algn="l">
              <a:lnSpc>
                <a:spcPts val="3938"/>
              </a:lnSpc>
            </a:pPr>
          </a:p>
          <a:p>
            <a:pPr algn="l">
              <a:lnSpc>
                <a:spcPts val="3938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Database Systems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249701" y="9193555"/>
            <a:ext cx="1271608" cy="652980"/>
            <a:chOff x="0" y="0"/>
            <a:chExt cx="334909" cy="1719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416814" y="4508898"/>
            <a:ext cx="8257905" cy="449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0203" indent="-340102" lvl="1">
              <a:lnSpc>
                <a:spcPts val="3938"/>
              </a:lnSpc>
              <a:buAutoNum type="arabicPeriod" startAt="1"/>
            </a:pP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entity name: MEAL_TRANSACTION</a:t>
            </a:r>
          </a:p>
          <a:p>
            <a:pPr algn="l">
              <a:lnSpc>
                <a:spcPts val="3938"/>
              </a:lnSpc>
            </a:pP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has the following attributes:</a:t>
            </a:r>
          </a:p>
          <a:p>
            <a:pPr algn="l" marL="680203" indent="-340102" lvl="1">
              <a:lnSpc>
                <a:spcPts val="3938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transaction_id</a:t>
            </a:r>
          </a:p>
          <a:p>
            <a:pPr algn="l" marL="680203" indent="-340102" lvl="1">
              <a:lnSpc>
                <a:spcPts val="3938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student_id</a:t>
            </a:r>
          </a:p>
          <a:p>
            <a:pPr algn="l" marL="680203" indent="-340102" lvl="1">
              <a:lnSpc>
                <a:spcPts val="3938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s</a:t>
            </a: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ession_id</a:t>
            </a:r>
          </a:p>
          <a:p>
            <a:pPr algn="l" marL="680203" indent="-340102" lvl="1">
              <a:lnSpc>
                <a:spcPts val="3938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transaction_time</a:t>
            </a:r>
          </a:p>
          <a:p>
            <a:pPr algn="l" marL="680203" indent="-340102" lvl="1">
              <a:lnSpc>
                <a:spcPts val="3938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status</a:t>
            </a:r>
          </a:p>
          <a:p>
            <a:pPr algn="l">
              <a:lnSpc>
                <a:spcPts val="3938"/>
              </a:lnSpc>
            </a:pPr>
          </a:p>
          <a:p>
            <a:pPr algn="l">
              <a:lnSpc>
                <a:spcPts val="3938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397585"/>
            <a:ext cx="17470132" cy="8249951"/>
            <a:chOff x="0" y="0"/>
            <a:chExt cx="4601187" cy="21728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2172826"/>
            </a:xfrm>
            <a:custGeom>
              <a:avLst/>
              <a:gdLst/>
              <a:ahLst/>
              <a:cxnLst/>
              <a:rect r="r" b="b" t="t" l="l"/>
              <a:pathLst>
                <a:path h="2172826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172826"/>
                  </a:lnTo>
                  <a:lnTo>
                    <a:pt x="0" y="217282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220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224018" y="1642139"/>
            <a:ext cx="4594582" cy="2447659"/>
          </a:xfrm>
          <a:custGeom>
            <a:avLst/>
            <a:gdLst/>
            <a:ahLst/>
            <a:cxnLst/>
            <a:rect r="r" b="b" t="t" l="l"/>
            <a:pathLst>
              <a:path h="2447659" w="4594582">
                <a:moveTo>
                  <a:pt x="0" y="0"/>
                </a:moveTo>
                <a:lnTo>
                  <a:pt x="4594582" y="0"/>
                </a:lnTo>
                <a:lnTo>
                  <a:pt x="4594582" y="2447659"/>
                </a:lnTo>
                <a:lnTo>
                  <a:pt x="0" y="24476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505065" y="3544436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5"/>
                </a:lnTo>
                <a:lnTo>
                  <a:pt x="0" y="10907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224018" y="2235274"/>
            <a:ext cx="4370255" cy="1470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2"/>
              </a:lnSpc>
            </a:pPr>
            <a:r>
              <a:rPr lang="en-US" b="true" sz="6520" spc="-22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DATABASE ENTITIES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6508" y="4606586"/>
            <a:ext cx="8257905" cy="3500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0203" indent="-340102" lvl="1">
              <a:lnSpc>
                <a:spcPts val="3938"/>
              </a:lnSpc>
              <a:buAutoNum type="arabicPeriod" startAt="1"/>
            </a:pP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entity name: MEAL_SESSION</a:t>
            </a:r>
          </a:p>
          <a:p>
            <a:pPr algn="l">
              <a:lnSpc>
                <a:spcPts val="3938"/>
              </a:lnSpc>
            </a:pP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has the following attributes:</a:t>
            </a:r>
          </a:p>
          <a:p>
            <a:pPr algn="l" marL="680203" indent="-340102" lvl="1">
              <a:lnSpc>
                <a:spcPts val="3938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session_id</a:t>
            </a:r>
          </a:p>
          <a:p>
            <a:pPr algn="l" marL="680203" indent="-340102" lvl="1">
              <a:lnSpc>
                <a:spcPts val="3938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session_name</a:t>
            </a:r>
          </a:p>
          <a:p>
            <a:pPr algn="l" marL="680203" indent="-340102" lvl="1">
              <a:lnSpc>
                <a:spcPts val="3938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s</a:t>
            </a: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ession_time</a:t>
            </a:r>
          </a:p>
          <a:p>
            <a:pPr algn="l">
              <a:lnSpc>
                <a:spcPts val="3938"/>
              </a:lnSpc>
            </a:pPr>
          </a:p>
          <a:p>
            <a:pPr algn="l">
              <a:lnSpc>
                <a:spcPts val="3938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Database Systems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145206" y="9193555"/>
            <a:ext cx="1271608" cy="652980"/>
            <a:chOff x="0" y="0"/>
            <a:chExt cx="334909" cy="1719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416814" y="4508898"/>
            <a:ext cx="8257905" cy="399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0203" indent="-340102" lvl="1">
              <a:lnSpc>
                <a:spcPts val="3938"/>
              </a:lnSpc>
              <a:buAutoNum type="arabicPeriod" startAt="1"/>
            </a:pP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entity name: MENU</a:t>
            </a:r>
          </a:p>
          <a:p>
            <a:pPr algn="l">
              <a:lnSpc>
                <a:spcPts val="3938"/>
              </a:lnSpc>
            </a:pP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has the following attributes:</a:t>
            </a:r>
          </a:p>
          <a:p>
            <a:pPr algn="l" marL="680203" indent="-340102" lvl="1">
              <a:lnSpc>
                <a:spcPts val="3938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menu_id</a:t>
            </a:r>
          </a:p>
          <a:p>
            <a:pPr algn="l" marL="680203" indent="-340102" lvl="1">
              <a:lnSpc>
                <a:spcPts val="3938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s</a:t>
            </a: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ession_id</a:t>
            </a:r>
          </a:p>
          <a:p>
            <a:pPr algn="l" marL="680203" indent="-340102" lvl="1">
              <a:lnSpc>
                <a:spcPts val="3938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food_</a:t>
            </a: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name</a:t>
            </a:r>
          </a:p>
          <a:p>
            <a:pPr algn="l" marL="680203" indent="-340102" lvl="1">
              <a:lnSpc>
                <a:spcPts val="3938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menu_date</a:t>
            </a:r>
          </a:p>
          <a:p>
            <a:pPr algn="l">
              <a:lnSpc>
                <a:spcPts val="3938"/>
              </a:lnSpc>
            </a:pPr>
          </a:p>
          <a:p>
            <a:pPr algn="l">
              <a:lnSpc>
                <a:spcPts val="3938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596585"/>
            <a:ext cx="17470132" cy="8249951"/>
            <a:chOff x="0" y="0"/>
            <a:chExt cx="4601187" cy="21728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2172826"/>
            </a:xfrm>
            <a:custGeom>
              <a:avLst/>
              <a:gdLst/>
              <a:ahLst/>
              <a:cxnLst/>
              <a:rect r="r" b="b" t="t" l="l"/>
              <a:pathLst>
                <a:path h="2172826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172826"/>
                  </a:lnTo>
                  <a:lnTo>
                    <a:pt x="0" y="217282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220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04261" y="2783921"/>
            <a:ext cx="5649086" cy="3009422"/>
          </a:xfrm>
          <a:custGeom>
            <a:avLst/>
            <a:gdLst/>
            <a:ahLst/>
            <a:cxnLst/>
            <a:rect r="r" b="b" t="t" l="l"/>
            <a:pathLst>
              <a:path h="3009422" w="5649086">
                <a:moveTo>
                  <a:pt x="0" y="0"/>
                </a:moveTo>
                <a:lnTo>
                  <a:pt x="5649086" y="0"/>
                </a:lnTo>
                <a:lnTo>
                  <a:pt x="5649086" y="3009422"/>
                </a:lnTo>
                <a:lnTo>
                  <a:pt x="0" y="3009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505775" y="5101523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04261" y="3672561"/>
            <a:ext cx="5534722" cy="1470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2"/>
              </a:lnSpc>
            </a:pPr>
            <a:r>
              <a:rPr lang="en-US" b="true" sz="6520" spc="-22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RELATIONSHIP ANALYSI</a:t>
            </a:r>
            <a:r>
              <a:rPr lang="en-US" b="true" sz="6520" spc="-22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61954" y="3443961"/>
            <a:ext cx="10297346" cy="252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O</a:t>
            </a: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n</a:t>
            </a: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e student → many meal transactions(1:M)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One meal session → many meal transactions(1:M)</a:t>
            </a:r>
          </a:p>
          <a:p>
            <a:pPr algn="l" marL="688406" indent="-344203" lvl="1">
              <a:lnSpc>
                <a:spcPts val="3985"/>
              </a:lnSpc>
              <a:buFont typeface="Arial"/>
              <a:buChar char="•"/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One meal session → many menu records(1:M)</a:t>
            </a:r>
          </a:p>
          <a:p>
            <a:pPr algn="l">
              <a:lnSpc>
                <a:spcPts val="3985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Database Systems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477895" y="9193555"/>
            <a:ext cx="1271608" cy="652980"/>
            <a:chOff x="0" y="0"/>
            <a:chExt cx="334909" cy="1719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596585"/>
            <a:ext cx="17470132" cy="8249951"/>
            <a:chOff x="0" y="0"/>
            <a:chExt cx="4601187" cy="21728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2172826"/>
            </a:xfrm>
            <a:custGeom>
              <a:avLst/>
              <a:gdLst/>
              <a:ahLst/>
              <a:cxnLst/>
              <a:rect r="r" b="b" t="t" l="l"/>
              <a:pathLst>
                <a:path h="2172826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172826"/>
                  </a:lnTo>
                  <a:lnTo>
                    <a:pt x="0" y="217282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220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04261" y="2233959"/>
            <a:ext cx="4614189" cy="2458104"/>
          </a:xfrm>
          <a:custGeom>
            <a:avLst/>
            <a:gdLst/>
            <a:ahLst/>
            <a:cxnLst/>
            <a:rect r="r" b="b" t="t" l="l"/>
            <a:pathLst>
              <a:path h="2458104" w="4614189">
                <a:moveTo>
                  <a:pt x="0" y="0"/>
                </a:moveTo>
                <a:lnTo>
                  <a:pt x="4614189" y="0"/>
                </a:lnTo>
                <a:lnTo>
                  <a:pt x="4614189" y="2458104"/>
                </a:lnTo>
                <a:lnTo>
                  <a:pt x="0" y="24581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928934" y="4052774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0882245" y="9193555"/>
            <a:ext cx="1271608" cy="652980"/>
            <a:chOff x="0" y="0"/>
            <a:chExt cx="334909" cy="17197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6438983" y="2307907"/>
            <a:ext cx="11062508" cy="6443911"/>
          </a:xfrm>
          <a:custGeom>
            <a:avLst/>
            <a:gdLst/>
            <a:ahLst/>
            <a:cxnLst/>
            <a:rect r="r" b="b" t="t" l="l"/>
            <a:pathLst>
              <a:path h="6443911" w="11062508">
                <a:moveTo>
                  <a:pt x="0" y="0"/>
                </a:moveTo>
                <a:lnTo>
                  <a:pt x="11062509" y="0"/>
                </a:lnTo>
                <a:lnTo>
                  <a:pt x="11062509" y="6443911"/>
                </a:lnTo>
                <a:lnTo>
                  <a:pt x="0" y="64439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44174" y="2916052"/>
            <a:ext cx="4794927" cy="127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1"/>
              </a:lnSpc>
            </a:pPr>
            <a:r>
              <a:rPr lang="en-US" b="true" sz="5648" spc="-19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ER </a:t>
            </a:r>
          </a:p>
          <a:p>
            <a:pPr algn="ctr">
              <a:lnSpc>
                <a:spcPts val="4801"/>
              </a:lnSpc>
            </a:pPr>
            <a:r>
              <a:rPr lang="en-US" b="true" sz="5648" spc="-19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DIAGRAM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Database Systems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04261" y="5124450"/>
            <a:ext cx="5534722" cy="353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5"/>
              </a:lnSpc>
            </a:pPr>
            <a:r>
              <a:rPr lang="en-US" sz="31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to get a better look at the diagram please visit:</a:t>
            </a:r>
          </a:p>
          <a:p>
            <a:pPr algn="l">
              <a:lnSpc>
                <a:spcPts val="3985"/>
              </a:lnSpc>
            </a:pPr>
            <a:r>
              <a:rPr lang="en-US" sz="3188">
                <a:solidFill>
                  <a:srgbClr val="0057CC"/>
                </a:solidFill>
                <a:latin typeface="Anonymous Pro"/>
                <a:ea typeface="Anonymous Pro"/>
                <a:cs typeface="Anonymous Pro"/>
                <a:sym typeface="Anonymous Pro"/>
              </a:rPr>
              <a:t>https://github.com/henacodes/AASTU-DB-Project-Group-6/blob/master/diagrams/ERD.jpg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596585"/>
            <a:ext cx="17470132" cy="8249951"/>
            <a:chOff x="0" y="0"/>
            <a:chExt cx="4601187" cy="21728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2172826"/>
            </a:xfrm>
            <a:custGeom>
              <a:avLst/>
              <a:gdLst/>
              <a:ahLst/>
              <a:cxnLst/>
              <a:rect r="r" b="b" t="t" l="l"/>
              <a:pathLst>
                <a:path h="2172826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172826"/>
                  </a:lnTo>
                  <a:lnTo>
                    <a:pt x="0" y="217282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220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04261" y="2783921"/>
            <a:ext cx="5825457" cy="3103380"/>
          </a:xfrm>
          <a:custGeom>
            <a:avLst/>
            <a:gdLst/>
            <a:ahLst/>
            <a:cxnLst/>
            <a:rect r="r" b="b" t="t" l="l"/>
            <a:pathLst>
              <a:path h="3103380" w="5825457">
                <a:moveTo>
                  <a:pt x="0" y="0"/>
                </a:moveTo>
                <a:lnTo>
                  <a:pt x="5825457" y="0"/>
                </a:lnTo>
                <a:lnTo>
                  <a:pt x="5825457" y="3103379"/>
                </a:lnTo>
                <a:lnTo>
                  <a:pt x="0" y="31033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505775" y="5101523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164083" y="4052578"/>
            <a:ext cx="5534722" cy="775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2"/>
              </a:lnSpc>
            </a:pPr>
            <a:r>
              <a:rPr lang="en-US" b="true" sz="6520" spc="-22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NO</a:t>
            </a:r>
            <a:r>
              <a:rPr lang="en-US" b="true" sz="6520" spc="-22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RMALIZATION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45595" y="2343224"/>
            <a:ext cx="10297346" cy="4507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5"/>
              </a:lnSpc>
            </a:pPr>
            <a:r>
              <a:rPr lang="en-US" sz="25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This database system was improve consistency and reduce redundancy:</a:t>
            </a:r>
          </a:p>
          <a:p>
            <a:pPr algn="l" marL="558870" indent="-279435" lvl="1">
              <a:lnSpc>
                <a:spcPts val="3235"/>
              </a:lnSpc>
              <a:buAutoNum type="arabicPeriod" startAt="1"/>
            </a:pPr>
            <a:r>
              <a:rPr lang="en-US" sz="25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1NF:- Atomic values</a:t>
            </a:r>
          </a:p>
          <a:p>
            <a:pPr algn="l">
              <a:lnSpc>
                <a:spcPts val="3235"/>
              </a:lnSpc>
            </a:pPr>
            <a:r>
              <a:rPr lang="en-US" sz="25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       - No repeating groups</a:t>
            </a:r>
          </a:p>
          <a:p>
            <a:pPr algn="l" marL="558870" indent="-279435" lvl="1">
              <a:lnSpc>
                <a:spcPts val="3235"/>
              </a:lnSpc>
              <a:buAutoNum type="arabicPeriod" startAt="1"/>
            </a:pPr>
            <a:r>
              <a:rPr lang="en-US" sz="25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2NF:- Removed partial dependencies</a:t>
            </a:r>
          </a:p>
          <a:p>
            <a:pPr algn="l" marL="558870" indent="-279435" lvl="1">
              <a:lnSpc>
                <a:spcPts val="3235"/>
              </a:lnSpc>
              <a:buAutoNum type="arabicPeriod" startAt="1"/>
            </a:pPr>
            <a:r>
              <a:rPr lang="en-US" sz="25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3NF:- Removed transitive dependencies</a:t>
            </a:r>
          </a:p>
          <a:p>
            <a:pPr algn="l" marL="558870" indent="-279435" lvl="1">
              <a:lnSpc>
                <a:spcPts val="3235"/>
              </a:lnSpc>
              <a:buAutoNum type="arabicPeriod" startAt="1"/>
            </a:pPr>
            <a:r>
              <a:rPr lang="en-US" sz="25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BCNF:-Final polish(All determinants are candidate keys)</a:t>
            </a:r>
          </a:p>
          <a:p>
            <a:pPr algn="l">
              <a:lnSpc>
                <a:spcPts val="3235"/>
              </a:lnSpc>
            </a:pPr>
            <a:r>
              <a:rPr lang="en-US" sz="25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</a:p>
          <a:p>
            <a:pPr algn="l">
              <a:lnSpc>
                <a:spcPts val="3235"/>
              </a:lnSpc>
            </a:pPr>
          </a:p>
          <a:p>
            <a:pPr algn="just">
              <a:lnSpc>
                <a:spcPts val="3235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Database systems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345506" y="9193555"/>
            <a:ext cx="1271608" cy="652980"/>
            <a:chOff x="0" y="0"/>
            <a:chExt cx="334909" cy="1719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596585"/>
            <a:ext cx="17470132" cy="8249951"/>
            <a:chOff x="0" y="0"/>
            <a:chExt cx="4601187" cy="21728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2172826"/>
            </a:xfrm>
            <a:custGeom>
              <a:avLst/>
              <a:gdLst/>
              <a:ahLst/>
              <a:cxnLst/>
              <a:rect r="r" b="b" t="t" l="l"/>
              <a:pathLst>
                <a:path h="2172826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172826"/>
                  </a:lnTo>
                  <a:lnTo>
                    <a:pt x="0" y="217282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220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86508" y="2783921"/>
            <a:ext cx="6397885" cy="3408328"/>
          </a:xfrm>
          <a:custGeom>
            <a:avLst/>
            <a:gdLst/>
            <a:ahLst/>
            <a:cxnLst/>
            <a:rect r="r" b="b" t="t" l="l"/>
            <a:pathLst>
              <a:path h="3408328" w="6397885">
                <a:moveTo>
                  <a:pt x="0" y="0"/>
                </a:moveTo>
                <a:lnTo>
                  <a:pt x="6397886" y="0"/>
                </a:lnTo>
                <a:lnTo>
                  <a:pt x="6397886" y="3408328"/>
                </a:lnTo>
                <a:lnTo>
                  <a:pt x="0" y="34083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505775" y="5101523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16419" y="3857390"/>
            <a:ext cx="6138063" cy="1470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2"/>
              </a:lnSpc>
            </a:pPr>
            <a:r>
              <a:rPr lang="en-US" b="true" sz="6520" spc="-22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</a:t>
            </a:r>
            <a:r>
              <a:rPr lang="en-US" b="true" sz="6520" spc="-22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ESTING AND CHALLENGES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90654" y="2093886"/>
            <a:ext cx="10297346" cy="409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5"/>
              </a:lnSpc>
            </a:pPr>
            <a:r>
              <a:rPr lang="en-US" sz="25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Testing:</a:t>
            </a:r>
          </a:p>
          <a:p>
            <a:pPr algn="just" marL="558870" indent="-279435" lvl="1">
              <a:lnSpc>
                <a:spcPts val="3235"/>
              </a:lnSpc>
              <a:buFont typeface="Arial"/>
              <a:buChar char="•"/>
            </a:pPr>
            <a:r>
              <a:rPr lang="en-US" sz="25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Verified relationships</a:t>
            </a:r>
          </a:p>
          <a:p>
            <a:pPr algn="just" marL="558870" indent="-279435" lvl="1">
              <a:lnSpc>
                <a:spcPts val="3235"/>
              </a:lnSpc>
              <a:buFont typeface="Arial"/>
              <a:buChar char="•"/>
            </a:pPr>
            <a:r>
              <a:rPr lang="en-US" sz="25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Tested queries</a:t>
            </a:r>
          </a:p>
          <a:p>
            <a:pPr algn="just" marL="558870" indent="-279435" lvl="1">
              <a:lnSpc>
                <a:spcPts val="3235"/>
              </a:lnSpc>
              <a:buFont typeface="Arial"/>
              <a:buChar char="•"/>
            </a:pPr>
            <a:r>
              <a:rPr lang="en-US" sz="25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Validated reports</a:t>
            </a:r>
          </a:p>
          <a:p>
            <a:pPr algn="just" marL="558870" indent="-279435" lvl="1">
              <a:lnSpc>
                <a:spcPts val="3235"/>
              </a:lnSpc>
              <a:buFont typeface="Arial"/>
              <a:buChar char="•"/>
            </a:pPr>
            <a:r>
              <a:rPr lang="en-US" sz="25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Checked data consistency</a:t>
            </a:r>
          </a:p>
          <a:p>
            <a:pPr algn="just">
              <a:lnSpc>
                <a:spcPts val="3235"/>
              </a:lnSpc>
            </a:pPr>
            <a:r>
              <a:rPr lang="en-US" sz="25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challenges</a:t>
            </a:r>
          </a:p>
          <a:p>
            <a:pPr algn="just" marL="558870" indent="-279435" lvl="1">
              <a:lnSpc>
                <a:spcPts val="3235"/>
              </a:lnSpc>
              <a:buFont typeface="Arial"/>
              <a:buChar char="•"/>
            </a:pPr>
            <a:r>
              <a:rPr lang="en-US" sz="25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Relationship errors</a:t>
            </a:r>
          </a:p>
          <a:p>
            <a:pPr algn="just" marL="558870" indent="-279435" lvl="1">
              <a:lnSpc>
                <a:spcPts val="3235"/>
              </a:lnSpc>
              <a:buFont typeface="Arial"/>
              <a:buChar char="•"/>
            </a:pPr>
            <a:r>
              <a:rPr lang="en-US" sz="25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Query optimization</a:t>
            </a:r>
          </a:p>
          <a:p>
            <a:pPr algn="just" marL="558870" indent="-279435" lvl="1">
              <a:lnSpc>
                <a:spcPts val="3235"/>
              </a:lnSpc>
              <a:buFont typeface="Arial"/>
              <a:buChar char="•"/>
            </a:pPr>
            <a:r>
              <a:rPr lang="en-US" sz="25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Integrating MySQL and MongoDB</a:t>
            </a:r>
          </a:p>
          <a:p>
            <a:pPr algn="just">
              <a:lnSpc>
                <a:spcPts val="3235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Database systems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930651" y="9193555"/>
            <a:ext cx="1271608" cy="652980"/>
            <a:chOff x="0" y="0"/>
            <a:chExt cx="334909" cy="1719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596585"/>
            <a:ext cx="17470132" cy="8249951"/>
            <a:chOff x="0" y="0"/>
            <a:chExt cx="4601187" cy="21728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2172826"/>
            </a:xfrm>
            <a:custGeom>
              <a:avLst/>
              <a:gdLst/>
              <a:ahLst/>
              <a:cxnLst/>
              <a:rect r="r" b="b" t="t" l="l"/>
              <a:pathLst>
                <a:path h="2172826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172826"/>
                  </a:lnTo>
                  <a:lnTo>
                    <a:pt x="0" y="217282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220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86508" y="2783921"/>
            <a:ext cx="6267974" cy="3339121"/>
          </a:xfrm>
          <a:custGeom>
            <a:avLst/>
            <a:gdLst/>
            <a:ahLst/>
            <a:cxnLst/>
            <a:rect r="r" b="b" t="t" l="l"/>
            <a:pathLst>
              <a:path h="3339121" w="6267974">
                <a:moveTo>
                  <a:pt x="0" y="0"/>
                </a:moveTo>
                <a:lnTo>
                  <a:pt x="6267975" y="0"/>
                </a:lnTo>
                <a:lnTo>
                  <a:pt x="6267975" y="3339121"/>
                </a:lnTo>
                <a:lnTo>
                  <a:pt x="0" y="33391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505775" y="5101523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16419" y="3924065"/>
            <a:ext cx="6138063" cy="98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72"/>
              </a:lnSpc>
            </a:pPr>
            <a:r>
              <a:rPr lang="en-US" b="true" sz="8320" spc="-2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CO</a:t>
            </a:r>
            <a:r>
              <a:rPr lang="en-US" b="true" sz="8320" spc="-2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NCLUSION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05682" y="2273862"/>
            <a:ext cx="10297346" cy="2869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5"/>
              </a:lnSpc>
            </a:pPr>
            <a:r>
              <a:rPr lang="en-US" sz="25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This project focused on designing a Meal Management System that helps organize student meal information, transaction records, meal sessions, and menu data more efficiently. By using bot</a:t>
            </a:r>
            <a:r>
              <a:rPr lang="en-US" sz="25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h MySQL and MongoDB, the syst</a:t>
            </a:r>
            <a:r>
              <a:rPr lang="en-US" sz="2588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em improves data organization, reduces redundancy, and supports accurate report generation for university cafeteria services.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Database systems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4285433" y="9193555"/>
            <a:ext cx="1271608" cy="652980"/>
            <a:chOff x="0" y="0"/>
            <a:chExt cx="334909" cy="1719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599438"/>
            <a:ext cx="17470132" cy="8247098"/>
            <a:chOff x="0" y="0"/>
            <a:chExt cx="4601187" cy="21720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2172075"/>
            </a:xfrm>
            <a:custGeom>
              <a:avLst/>
              <a:gdLst/>
              <a:ahLst/>
              <a:cxnLst/>
              <a:rect r="r" b="b" t="t" l="l"/>
              <a:pathLst>
                <a:path h="2172075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172075"/>
                  </a:lnTo>
                  <a:lnTo>
                    <a:pt x="0" y="217207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21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886058" y="9193555"/>
            <a:ext cx="1271608" cy="652980"/>
            <a:chOff x="0" y="0"/>
            <a:chExt cx="334909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525353" y="5001114"/>
            <a:ext cx="12001379" cy="1792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99"/>
              </a:lnSpc>
            </a:pPr>
            <a:r>
              <a:rPr lang="en-US" b="true" sz="13499" spc="-458">
                <a:solidFill>
                  <a:srgbClr val="0057CC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THANK YOU!!!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Database systems 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0058251" y="6074074"/>
            <a:ext cx="1301065" cy="2215436"/>
          </a:xfrm>
          <a:custGeom>
            <a:avLst/>
            <a:gdLst/>
            <a:ahLst/>
            <a:cxnLst/>
            <a:rect r="r" b="b" t="t" l="l"/>
            <a:pathLst>
              <a:path h="2215436" w="1301065">
                <a:moveTo>
                  <a:pt x="0" y="0"/>
                </a:moveTo>
                <a:lnTo>
                  <a:pt x="1301065" y="0"/>
                </a:lnTo>
                <a:lnTo>
                  <a:pt x="1301065" y="2215436"/>
                </a:lnTo>
                <a:lnTo>
                  <a:pt x="0" y="22154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DAHKY0y7QFU</dc:identifier>
  <dcterms:modified xsi:type="dcterms:W3CDTF">2011-08-01T06:04:30Z</dcterms:modified>
  <cp:revision>1</cp:revision>
  <dc:title>presentation</dc:title>
</cp:coreProperties>
</file>